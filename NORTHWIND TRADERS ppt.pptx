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9" r:id="rId12"/>
    <p:sldId id="317" r:id="rId13"/>
    <p:sldId id="318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754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NORTHWIND TRADERS</a:t>
            </a:r>
            <a:br>
              <a:rPr lang="en-US" dirty="0"/>
            </a:br>
            <a:r>
              <a:rPr lang="en-US" dirty="0"/>
              <a:t>ANALYTICS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842A2-4074-953B-8E7E-535764EF045C}"/>
              </a:ext>
            </a:extLst>
          </p:cNvPr>
          <p:cNvSpPr txBox="1"/>
          <p:nvPr/>
        </p:nvSpPr>
        <p:spPr>
          <a:xfrm>
            <a:off x="4732256" y="3836710"/>
            <a:ext cx="2771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Power BI Business Intelligence Project By Udita Sarkar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• Introduction  </a:t>
            </a:r>
          </a:p>
          <a:p>
            <a:r>
              <a:rPr lang="en-US" dirty="0"/>
              <a:t>• Dataset Overview  </a:t>
            </a:r>
          </a:p>
          <a:p>
            <a:r>
              <a:rPr lang="en-US" dirty="0"/>
              <a:t>• Data Modeling &amp; Relationships  </a:t>
            </a:r>
          </a:p>
          <a:p>
            <a:r>
              <a:rPr lang="en-US" dirty="0"/>
              <a:t>• Customer Analytics  </a:t>
            </a:r>
          </a:p>
          <a:p>
            <a:r>
              <a:rPr lang="en-US" dirty="0"/>
              <a:t>• Product Analytics  </a:t>
            </a:r>
          </a:p>
          <a:p>
            <a:r>
              <a:rPr lang="en-US" dirty="0"/>
              <a:t>• Sales Analytics  </a:t>
            </a:r>
          </a:p>
          <a:p>
            <a:r>
              <a:rPr lang="en-US" dirty="0"/>
              <a:t>• Supplier &amp; Employee Insights  </a:t>
            </a:r>
          </a:p>
          <a:p>
            <a:r>
              <a:rPr lang="en-US" dirty="0"/>
              <a:t>• Key Findings &amp; Recommendations  </a:t>
            </a:r>
          </a:p>
          <a:p>
            <a:r>
              <a:rPr lang="en-US" dirty="0"/>
              <a:t>•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802567"/>
            <a:ext cx="5723586" cy="4739104"/>
          </a:xfrm>
        </p:spPr>
        <p:txBody>
          <a:bodyPr/>
          <a:lstStyle/>
          <a:p>
            <a:r>
              <a:rPr lang="en-US" dirty="0"/>
              <a:t>Data Modeling &amp; Relationships</a:t>
            </a:r>
            <a:br>
              <a:rPr lang="en-US" dirty="0"/>
            </a:br>
            <a:br>
              <a:rPr lang="en-US" dirty="0"/>
            </a:br>
            <a:endParaRPr lang="en-US" sz="1200" b="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7BEC25-A960-A6B9-5FCF-00E784CC2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13" y="0"/>
            <a:ext cx="4835951" cy="63442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5B09D5-35A1-A826-36F2-C8A237DB051C}"/>
              </a:ext>
            </a:extLst>
          </p:cNvPr>
          <p:cNvSpPr txBox="1"/>
          <p:nvPr/>
        </p:nvSpPr>
        <p:spPr>
          <a:xfrm>
            <a:off x="5702441" y="3481917"/>
            <a:ext cx="55343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02C8F"/>
                </a:solidFill>
              </a:rPr>
              <a:t>• Created relationships between fact and dimension tables</a:t>
            </a:r>
          </a:p>
          <a:p>
            <a:endParaRPr lang="en-US" dirty="0">
              <a:solidFill>
                <a:srgbClr val="202C8F"/>
              </a:solidFill>
            </a:endParaRPr>
          </a:p>
          <a:p>
            <a:r>
              <a:rPr lang="en-US" dirty="0">
                <a:solidFill>
                  <a:srgbClr val="202C8F"/>
                </a:solidFill>
              </a:rPr>
              <a:t>• Connected Orders, Customers, Products, Employees, Suppliers, and Categories</a:t>
            </a:r>
          </a:p>
          <a:p>
            <a:endParaRPr lang="en-US" dirty="0">
              <a:solidFill>
                <a:srgbClr val="202C8F"/>
              </a:solidFill>
            </a:endParaRPr>
          </a:p>
          <a:p>
            <a:r>
              <a:rPr lang="en-US" dirty="0">
                <a:solidFill>
                  <a:srgbClr val="202C8F"/>
                </a:solidFill>
              </a:rPr>
              <a:t>• Applied one-to-many relationships for accurate filtering and analysis</a:t>
            </a:r>
          </a:p>
          <a:p>
            <a:endParaRPr lang="en-US" dirty="0">
              <a:solidFill>
                <a:srgbClr val="202C8F"/>
              </a:solidFill>
            </a:endParaRPr>
          </a:p>
          <a:p>
            <a:r>
              <a:rPr lang="en-US" dirty="0">
                <a:solidFill>
                  <a:srgbClr val="202C8F"/>
                </a:solidFill>
              </a:rPr>
              <a:t>• Built a structured data model for interactive reporting</a:t>
            </a:r>
            <a:endParaRPr lang="en-IN" dirty="0">
              <a:solidFill>
                <a:srgbClr val="202C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Customer Analytics Dashboard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AF3C4F-628E-53FF-DEED-56BCFCC70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/>
              <a:t>Key Insights:</a:t>
            </a:r>
          </a:p>
          <a:p>
            <a:endParaRPr lang="en-US" sz="1800" dirty="0"/>
          </a:p>
          <a:p>
            <a:r>
              <a:rPr lang="en-US" sz="1800" dirty="0"/>
              <a:t>• Customer distribution varies across countries</a:t>
            </a:r>
          </a:p>
          <a:p>
            <a:endParaRPr lang="en-US" sz="1800" dirty="0"/>
          </a:p>
          <a:p>
            <a:r>
              <a:rPr lang="en-US" sz="1800" dirty="0"/>
              <a:t>• Certain regions contribute more orders</a:t>
            </a:r>
          </a:p>
          <a:p>
            <a:endParaRPr lang="en-US" sz="1800" dirty="0"/>
          </a:p>
          <a:p>
            <a:r>
              <a:rPr lang="en-US" sz="1800" dirty="0"/>
              <a:t>• Customer ordering trends change over time</a:t>
            </a:r>
          </a:p>
          <a:p>
            <a:endParaRPr lang="en-US" sz="1800" dirty="0"/>
          </a:p>
          <a:p>
            <a:r>
              <a:rPr lang="en-US" sz="1800" dirty="0"/>
              <a:t>• Top customers generate higher sales volume</a:t>
            </a:r>
            <a:endParaRPr lang="en-IN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208E9C-CADE-F050-667A-9507B31EB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7072"/>
            <a:ext cx="5649798" cy="648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439" y="928688"/>
            <a:ext cx="7965461" cy="994164"/>
          </a:xfrm>
        </p:spPr>
        <p:txBody>
          <a:bodyPr/>
          <a:lstStyle/>
          <a:p>
            <a:r>
              <a:rPr lang="en-US" dirty="0"/>
              <a:t>Product Analytics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2611" y="2303029"/>
            <a:ext cx="7965460" cy="34976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Key Insights: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Top-selling products contribute significantly to revenue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Product categories show varying sales performance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Pricing distribution differs across products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Supplier contribution impacts product availability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14E26-21BF-7E52-A517-54171182F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56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Sales Analytics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Key Insights:</a:t>
            </a:r>
          </a:p>
          <a:p>
            <a:endParaRPr lang="en-US" sz="1800" dirty="0"/>
          </a:p>
          <a:p>
            <a:r>
              <a:rPr lang="en-US" sz="1800" dirty="0"/>
              <a:t>• Sales trends fluctuate across different periods</a:t>
            </a:r>
          </a:p>
          <a:p>
            <a:endParaRPr lang="en-US" sz="1800" dirty="0"/>
          </a:p>
          <a:p>
            <a:r>
              <a:rPr lang="en-US" sz="1800" dirty="0"/>
              <a:t>• Certain countries generate higher sales revenue</a:t>
            </a:r>
          </a:p>
          <a:p>
            <a:endParaRPr lang="en-US" sz="1800" dirty="0"/>
          </a:p>
          <a:p>
            <a:r>
              <a:rPr lang="en-US" sz="1800" dirty="0"/>
              <a:t>• Product categories contribute differently to overall sales</a:t>
            </a:r>
          </a:p>
          <a:p>
            <a:endParaRPr lang="en-US" sz="1800" dirty="0"/>
          </a:p>
          <a:p>
            <a:r>
              <a:rPr lang="en-US" sz="1800" dirty="0"/>
              <a:t>• Average order value highlights customer purchasing behavior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40E77-94AA-3C69-3014-386FC1486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4364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96" y="570684"/>
            <a:ext cx="7796464" cy="1222385"/>
          </a:xfrm>
        </p:spPr>
        <p:txBody>
          <a:bodyPr/>
          <a:lstStyle/>
          <a:p>
            <a:r>
              <a:rPr lang="en-US" dirty="0"/>
              <a:t>Key Findings &amp; 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1" y="1916529"/>
            <a:ext cx="4449452" cy="410719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/>
              <a:t>• </a:t>
            </a:r>
            <a:r>
              <a:rPr lang="en-US" sz="1700" dirty="0"/>
              <a:t>USA and a few major countries generated the highest sales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Beverage and product categories showed strong sales performance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Customer orders were concentrated in specific regions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Certain suppliers contributed more products than others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Employee and shipping analysis provided operational insights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Interactive dashboards improved business visibility and reporting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D625E-DD2D-7755-629B-E955CE4F5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272" y="1793069"/>
            <a:ext cx="2600688" cy="943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2479E-E4B6-988B-6121-178117573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732" y="1410256"/>
            <a:ext cx="3073186" cy="3887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70482F-F3A7-6277-06FF-143EA59A8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035" y="2859635"/>
            <a:ext cx="3808925" cy="39983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4C376C-F2A5-D9C6-02E4-F90EBE815B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9077" y="5403915"/>
            <a:ext cx="2974495" cy="145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72D1-5BDA-A527-2940-098C5788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Identified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73000-3E58-792B-07E5-D34040E122EF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         </a:t>
            </a:r>
            <a:r>
              <a:rPr lang="en-IN" b="1" dirty="0"/>
              <a:t>PROBLEMS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• </a:t>
            </a:r>
            <a:r>
              <a:rPr lang="en-US" sz="1700" dirty="0"/>
              <a:t>Sales were concentrated in limited regions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Some product categories showed lower performance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Supplier contribution was uneven across products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Customer ordering patterns fluctuated over time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Shipping durations varied across countries</a:t>
            </a:r>
            <a:endParaRPr lang="en-IN" sz="17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9EA99-7317-8632-61B2-C4AF092725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           RECOMMENDATIONS</a:t>
            </a:r>
          </a:p>
          <a:p>
            <a:pPr>
              <a:spcBef>
                <a:spcPts val="0"/>
              </a:spcBef>
            </a:pPr>
            <a:r>
              <a:rPr lang="en-US" sz="1700" dirty="0"/>
              <a:t>• Focus marketing efforts on low-performing regions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Improve inventory planning for high-demand products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Strengthen relationships with top-performing suppliers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Use sales trends for forecasting and strategic planning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• Optimize shipping and logistics processes to reduce delays</a:t>
            </a:r>
            <a:endParaRPr lang="en-IN" sz="17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66C1C-DBBF-8149-6FB0-EA09C501B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73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Tools &amp; Technologies Used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Power BI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Data Visualization &amp; Dashboarding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MySQL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Data Querying &amp; Analysis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Excel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EDA &amp; Data Handling</a:t>
            </a:r>
          </a:p>
          <a:p>
            <a:pPr marL="0" indent="0">
              <a:spcBef>
                <a:spcPts val="0"/>
              </a:spcBef>
              <a:buNone/>
            </a:pPr>
            <a:endParaRPr lang="en-US" sz="17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• PowerPoint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/>
              <a:t>Presentation &amp; Reporting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>
            <a:normAutofit/>
          </a:bodyPr>
          <a:lstStyle/>
          <a:p>
            <a:r>
              <a:rPr lang="en-US" sz="1800" dirty="0"/>
              <a:t>• Successfully developed an interactive multi-page Power BI dashboard</a:t>
            </a:r>
          </a:p>
          <a:p>
            <a:endParaRPr lang="en-US" sz="1800" dirty="0"/>
          </a:p>
          <a:p>
            <a:r>
              <a:rPr lang="en-US" sz="1800" dirty="0"/>
              <a:t>• Analyzed customer behavior, sales performance, products, suppliers, and employees</a:t>
            </a:r>
          </a:p>
          <a:p>
            <a:endParaRPr lang="en-US" sz="1800" dirty="0"/>
          </a:p>
          <a:p>
            <a:r>
              <a:rPr lang="en-US" sz="1800" dirty="0"/>
              <a:t>• Built meaningful visualizations for business decision-making</a:t>
            </a:r>
          </a:p>
          <a:p>
            <a:endParaRPr lang="en-US" sz="1800" dirty="0"/>
          </a:p>
          <a:p>
            <a:r>
              <a:rPr lang="en-US" sz="1800" dirty="0"/>
              <a:t>• Applied data modeling, SQL analysis, and dashboard design techniques</a:t>
            </a:r>
          </a:p>
          <a:p>
            <a:endParaRPr lang="en-US" sz="1800" dirty="0"/>
          </a:p>
          <a:p>
            <a:r>
              <a:rPr lang="en-US" sz="1800" dirty="0"/>
              <a:t>• The project demonstrates practical Business Intelligence and Data Analytics skills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Udita Sarkar</a:t>
            </a:r>
          </a:p>
          <a:p>
            <a:r>
              <a:rPr lang="en-US" dirty="0"/>
              <a:t>uditasarkar9@gmail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{80D7F039-149D-490B-9AA5-012FBEE91A8F}TF8a9b5915-b8c7-461e-8cdd-693d48b5e32371f7b7e2_win32-4bf0b9a2ea37</Template>
  <TotalTime>80</TotalTime>
  <Words>425</Words>
  <Application>Microsoft Office PowerPoint</Application>
  <PresentationFormat>Widescreen</PresentationFormat>
  <Paragraphs>115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NORTHWIND TRADERS ANALYTICS DASHBOARD</vt:lpstr>
      <vt:lpstr>Project Overview</vt:lpstr>
      <vt:lpstr>Data Modeling &amp; Relationships  </vt:lpstr>
      <vt:lpstr>Customer Analytics Dashboard</vt:lpstr>
      <vt:lpstr>Product Analytics Dashboard</vt:lpstr>
      <vt:lpstr>Sales Analytics Dashboard</vt:lpstr>
      <vt:lpstr>Key Findings &amp; Insights</vt:lpstr>
      <vt:lpstr>Problems Identified &amp; Recommendations</vt:lpstr>
      <vt:lpstr>Tools &amp; Technologies Used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Udita Sarkar</dc:creator>
  <cp:lastModifiedBy>Udita Sarkar</cp:lastModifiedBy>
  <cp:revision>1</cp:revision>
  <dcterms:created xsi:type="dcterms:W3CDTF">2026-05-09T19:40:53Z</dcterms:created>
  <dcterms:modified xsi:type="dcterms:W3CDTF">2026-05-09T21:01:49Z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